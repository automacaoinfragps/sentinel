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oao Paulo Da Gama Neto" initials="JPDGN" lastIdx="1" clrIdx="6">
    <p:extLst>
      <p:ext uri="{19B8F6BF-5375-455C-9EA6-DF929625EA0E}">
        <p15:presenceInfo xmlns:p15="http://schemas.microsoft.com/office/powerpoint/2012/main" userId="S::joao.gama@gpssa.com.br::6ef08065-a6c8-4762-82b6-551e80f6b07b" providerId="AD"/>
      </p:ext>
    </p:extLst>
  </p:cmAuthor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  <p:cmAuthor id="2" name="GlaucoCiasca" initials="G" lastIdx="4" clrIdx="1">
    <p:extLst>
      <p:ext uri="{19B8F6BF-5375-455C-9EA6-DF929625EA0E}">
        <p15:presenceInfo xmlns:p15="http://schemas.microsoft.com/office/powerpoint/2012/main" userId="S::glaucociasca@brancozulu.com.br::71ea144c-3dc2-43ec-b5ed-09152f131c62" providerId="AD"/>
      </p:ext>
    </p:extLst>
  </p:cmAuthor>
  <p:cmAuthor id="3" name="Larissa" initials="L" lastIdx="37" clrIdx="2">
    <p:extLst>
      <p:ext uri="{19B8F6BF-5375-455C-9EA6-DF929625EA0E}">
        <p15:presenceInfo xmlns:p15="http://schemas.microsoft.com/office/powerpoint/2012/main" userId="S::Larissa@brancozulu.com.br::e24fbf53-17f6-4283-ae9f-297732783a05" providerId="AD"/>
      </p:ext>
    </p:extLst>
  </p:cmAuthor>
  <p:cmAuthor id="4" name="Cleber Lacerda" initials="CL" lastIdx="1" clrIdx="3">
    <p:extLst>
      <p:ext uri="{19B8F6BF-5375-455C-9EA6-DF929625EA0E}">
        <p15:presenceInfo xmlns:p15="http://schemas.microsoft.com/office/powerpoint/2012/main" userId="d0dcb3fb677e8cb7" providerId="Windows Live"/>
      </p:ext>
    </p:extLst>
  </p:cmAuthor>
  <p:cmAuthor id="5" name="Usuário Convidado" initials="UC" lastIdx="4" clrIdx="4">
    <p:extLst>
      <p:ext uri="{19B8F6BF-5375-455C-9EA6-DF929625EA0E}">
        <p15:presenceInfo xmlns:p15="http://schemas.microsoft.com/office/powerpoint/2012/main" userId="S::urn:spo:anon#7079a6c7a10bc45070fb66635419195ad49395b08ac6e6fa8693d469b5741ef4::" providerId="AD"/>
      </p:ext>
    </p:extLst>
  </p:cmAuthor>
  <p:cmAuthor id="6" name="Camila de Lima Nepomuceno" initials="CdLN" lastIdx="7" clrIdx="5">
    <p:extLst>
      <p:ext uri="{19B8F6BF-5375-455C-9EA6-DF929625EA0E}">
        <p15:presenceInfo xmlns:p15="http://schemas.microsoft.com/office/powerpoint/2012/main" userId="S::camila.nepomuceno@gpssa.com.br::0d4e6aaa-f706-4e88-9f32-a0d0badcb4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9344"/>
    <a:srgbClr val="12394E"/>
    <a:srgbClr val="262727"/>
    <a:srgbClr val="FFFFFF"/>
    <a:srgbClr val="D4780A"/>
    <a:srgbClr val="00668E"/>
    <a:srgbClr val="A9D18E"/>
    <a:srgbClr val="2D3E51"/>
    <a:srgbClr val="2D3F51"/>
    <a:srgbClr val="3C5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FDB03-0529-EF95-B1B9-4155DDFD4567}" v="1" dt="2026-09-10T11:21:37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57963" autoAdjust="0"/>
  </p:normalViewPr>
  <p:slideViewPr>
    <p:cSldViewPr snapToGrid="0">
      <p:cViewPr varScale="1">
        <p:scale>
          <a:sx n="117" d="100"/>
          <a:sy n="117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Sergio Satiro Dos Santos" userId="S::paulo.satiro@gpssa.com.br::f0700459-cd16-45b3-8aa6-34fedb6c325e" providerId="AD" clId="Web-{3D0FDB03-0529-EF95-B1B9-4155DDFD4567}"/>
    <pc:docChg chg="sldOrd">
      <pc:chgData name="Paulo Sergio Satiro Dos Santos" userId="S::paulo.satiro@gpssa.com.br::f0700459-cd16-45b3-8aa6-34fedb6c325e" providerId="AD" clId="Web-{3D0FDB03-0529-EF95-B1B9-4155DDFD4567}" dt="2026-09-10T11:21:37.238" v="0"/>
      <pc:docMkLst>
        <pc:docMk/>
      </pc:docMkLst>
      <pc:sldChg chg="ord">
        <pc:chgData name="Paulo Sergio Satiro Dos Santos" userId="S::paulo.satiro@gpssa.com.br::f0700459-cd16-45b3-8aa6-34fedb6c325e" providerId="AD" clId="Web-{3D0FDB03-0529-EF95-B1B9-4155DDFD4567}" dt="2026-09-10T11:21:37.238" v="0"/>
        <pc:sldMkLst>
          <pc:docMk/>
          <pc:sldMk cId="4018682901" sldId="5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13EEC-036A-0044-8CD9-DACBCD9C532B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EF1BF-5DF1-BA44-B8AD-551DA3E7F02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6428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5815A-AB2D-574E-B68F-222379ADD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69A404-615E-2848-8CE9-95EBD1288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24EF7C-D012-954D-A029-690413BD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AB498C-5D3C-554C-81D9-64E66C3B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792F82-7567-744D-AEE6-81E74208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38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7B37F-8AF6-FB45-A97F-36D697A60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19B935-2808-9F49-AB44-DC0A05C6D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F25FFE-38FE-E34F-9134-2C7C174D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65D8F8-E734-C542-B87D-AEC0EDDA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B07F4-C0E4-1A44-8367-CA948BF3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7666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ECEAF-5B83-D245-BF8C-F81D9301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9C8D24-F756-434D-9EBC-677FFE918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B92763-4C93-794D-9A93-408B9D624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62328B-9478-094E-AA1F-F03EDEBC6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505932-FAC5-054C-9873-0276C9AA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7222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8B645-40D8-D845-80DA-3F2A99377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DF954E-19FD-D247-BDA9-4C7032200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7802E7-509A-DE41-AED4-BEE7B9C9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5CCBF0-9BF4-BA41-95B5-EF0AFEE1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DC2EF2-4B06-EC4C-B93A-4EE948B9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94AD43-514E-E54F-B3EE-B3C00BBF4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261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211AEA-9FA2-204F-883C-5A41353F3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FA621A-6323-A742-AC85-BC236C369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52B1A7-FE95-174F-B733-283E2A5B2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0F4BF0-34FA-904F-A5B2-B1285F4B7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36EC320-1E19-8241-89DB-96E06A7F6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67247FD-3F57-D74B-86BD-8E3EE58D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1C0923-1E39-9B4C-9B43-B808873B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CF4DD1-834A-0A42-ADEE-7FEEB526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524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24F72-3DAE-D647-9236-E8ECDD0A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A4D7A8-925D-3F49-9CE0-1A219E1C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8D9BED-2426-5B43-B7EF-C104F370B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290B80-C65F-CB4E-99A2-3D42214B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391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FDB36B1-8FB3-354F-B873-61359D8C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712576-F65B-6B4C-9BFF-1B09FFE42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4BF47C-2419-0042-A09A-163E74DD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356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CB947-749D-3040-B73D-26B2D33C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5B8DB7-5AE0-3F4A-958B-25591AA0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9FD52A-6636-CD49-A605-9BA837898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16F4E8-BC1F-974F-A0ED-C16AB72B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0AC318-C345-5E41-883E-BAFFA6254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7F60B6-DF3D-6446-ACDD-3909B763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6201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86269-EBFC-DF43-BAC7-F1A719230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E4FDE6-C406-C844-A331-13656C8448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F3FCE5-E532-A545-AF2D-3AB12FDF5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898482-6046-6443-806A-B5A50CB19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5ACD36-C2BC-0B4B-A406-7FC54483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7437E9-F43F-254F-B431-36CD6FA5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3646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52A93-65BB-854A-BF0C-59B899D6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45EFF2-63FF-6945-B5F4-CE81548BF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DEAF79-3A86-924B-8CA8-AAF6BBE31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35466C-3E75-2945-BD60-8526730E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E1E092-F604-614F-AFBA-CDB7ED0D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51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EDE3A2-CAEF-EA4E-BA1D-73D3E2B3B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0AA895-EF4B-F64E-8E52-1F1C7891B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D0FCE5-4287-3E4C-B0B4-0B6F7706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CF88BA-192C-214C-8A67-FFDC84D5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8B1AFD-3D10-C04E-81F5-DC020DAB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3704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7EFD5CF-5109-0C44-AAAA-7C442FD29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1CC5B1-0EC1-E147-929E-A550166ED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9F5A93-55EC-DA43-B63B-CD3AA07F47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62CA8-222E-3845-92A6-AAC4C098B1CA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811B2A-FE59-5E43-A90B-01EE02BE0E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039F25-8F86-5B4B-8D18-BE9634700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9C8896-69FC-7049-807D-E1DCA3212CB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7869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658368"/>
            <a:ext cx="82296" cy="5468112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969264"/>
            <a:ext cx="7772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CCFF"/>
                </a:solidFill>
                <a:latin typeface="Arial"/>
              </a:rPr>
              <a:t>PROPOSTA DE PARTICIPAÇÃO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371600"/>
            <a:ext cx="81381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600" b="1" dirty="0">
                <a:solidFill>
                  <a:srgbClr val="FFFFFF"/>
                </a:solidFill>
                <a:latin typeface="Arial"/>
              </a:rPr>
              <a:t>AI Brasil
Experience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52928"/>
            <a:ext cx="68580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dirty="0">
                <a:solidFill>
                  <a:srgbClr val="FFFFFF"/>
                </a:solidFill>
                <a:latin typeface="Arial"/>
              </a:rPr>
              <a:t>Aplicação direta no Sentinel, na SofIA e em futuros projetos de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202936"/>
            <a:ext cx="71323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300" b="1" dirty="0">
                <a:solidFill>
                  <a:srgbClr val="FFFFFF"/>
                </a:solidFill>
                <a:latin typeface="Arial"/>
              </a:rPr>
              <a:t>Roosevelt H. D. Andrade Pimentel</a:t>
            </a:r>
            <a:r>
              <a:rPr lang="pt-BR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1400" dirty="0">
                <a:solidFill>
                  <a:srgbClr val="FFFFFF"/>
                </a:solidFill>
                <a:latin typeface="Arial"/>
              </a:rPr>
              <a:t>| </a:t>
            </a:r>
            <a:r>
              <a:rPr lang="pt-BR" sz="1400" b="1" dirty="0">
                <a:solidFill>
                  <a:srgbClr val="FFFFFF"/>
                </a:solidFill>
                <a:latin typeface="Arial"/>
              </a:rPr>
              <a:t>Kleyton Eleuterio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5687568"/>
            <a:ext cx="59436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BED6E0"/>
                </a:solidFill>
                <a:latin typeface="Arial"/>
              </a:rPr>
              <a:t>Infraestrutura Regional </a:t>
            </a:r>
          </a:p>
        </p:txBody>
      </p:sp>
      <p:pic>
        <p:nvPicPr>
          <p:cNvPr id="13" name="Picture 12" descr="s1_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502920"/>
            <a:ext cx="2011680" cy="530395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A386E5A1-84C7-349E-6D0E-BA048718547B}"/>
              </a:ext>
            </a:extLst>
          </p:cNvPr>
          <p:cNvSpPr/>
          <p:nvPr/>
        </p:nvSpPr>
        <p:spPr>
          <a:xfrm rot="16200000">
            <a:off x="-821769" y="5959175"/>
            <a:ext cx="1719821" cy="86399"/>
          </a:xfrm>
          <a:prstGeom prst="rect">
            <a:avLst/>
          </a:prstGeom>
          <a:solidFill>
            <a:srgbClr val="E76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E76767"/>
              </a:solidFill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EA47CF7-D5E7-A5B5-9169-3F66F0F7C7CF}"/>
              </a:ext>
            </a:extLst>
          </p:cNvPr>
          <p:cNvSpPr/>
          <p:nvPr/>
        </p:nvSpPr>
        <p:spPr>
          <a:xfrm rot="16200000">
            <a:off x="-821768" y="4240447"/>
            <a:ext cx="1719821" cy="86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565825C-4E2B-BFAA-E15F-3E94BCDCB055}"/>
              </a:ext>
            </a:extLst>
          </p:cNvPr>
          <p:cNvSpPr/>
          <p:nvPr/>
        </p:nvSpPr>
        <p:spPr>
          <a:xfrm rot="16200000">
            <a:off x="-821769" y="2521722"/>
            <a:ext cx="1719821" cy="86399"/>
          </a:xfrm>
          <a:prstGeom prst="rect">
            <a:avLst/>
          </a:prstGeom>
          <a:solidFill>
            <a:srgbClr val="002060"/>
          </a:solidFill>
          <a:ln>
            <a:solidFill>
              <a:srgbClr val="262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C5EA74A-D855-4149-9B4B-DFEC5699E1B9}"/>
              </a:ext>
            </a:extLst>
          </p:cNvPr>
          <p:cNvSpPr/>
          <p:nvPr/>
        </p:nvSpPr>
        <p:spPr>
          <a:xfrm rot="16200000">
            <a:off x="-821769" y="802995"/>
            <a:ext cx="1719821" cy="863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ounded Rectangle 7"/>
          <p:cNvSpPr/>
          <p:nvPr/>
        </p:nvSpPr>
        <p:spPr>
          <a:xfrm>
            <a:off x="1024128" y="3767328"/>
            <a:ext cx="4956048" cy="941832"/>
          </a:xfrm>
          <a:prstGeom prst="roundRect">
            <a:avLst/>
          </a:prstGeom>
          <a:solidFill>
            <a:srgbClr val="154960"/>
          </a:solidFill>
          <a:ln w="8890">
            <a:solidFill>
              <a:srgbClr val="437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61872" y="3941063"/>
            <a:ext cx="4526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00CCFF"/>
                </a:solidFill>
                <a:latin typeface="Arial"/>
              </a:rPr>
              <a:t>28 E 29 DE OUTUBRO DE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4261104"/>
            <a:ext cx="45262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  <a:latin typeface="Arial"/>
              </a:rPr>
              <a:t>Distrito Anhembi, São Paulo  |  Ingresso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JUSTIFICATIVA EXECUTIVA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Por que participar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353312"/>
            <a:ext cx="110185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092737"/>
                </a:solidFill>
                <a:latin typeface="Arial"/>
              </a:rPr>
              <a:t>O evento será usado como fonte prática para evoluir um projeto que já está em desenvolvimento e uso interno.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029968"/>
            <a:ext cx="3547872" cy="233172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0352" y="2029968"/>
            <a:ext cx="64008" cy="233172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9808" y="2249424"/>
            <a:ext cx="457200" cy="45720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25856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2128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Projeto em andamento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3" y="2820925"/>
            <a:ext cx="3090672" cy="1709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A SofIA já consulta informações do Sentinel e utiliza Ollama e n8n para interpretar perguntas operacionais.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029968"/>
            <a:ext cx="3547872" cy="233172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15968" y="2029968"/>
            <a:ext cx="64008" cy="233172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35424" y="2249424"/>
            <a:ext cx="457200" cy="45720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5424" y="225856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2128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Aplicação direta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798065"/>
            <a:ext cx="3090672" cy="1709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Os conteúdos serão convertidos em melhorias de precisão, segurança, arquitetura, governança e mensuração.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2029968"/>
            <a:ext cx="3547872" cy="233172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01583" y="2029968"/>
            <a:ext cx="64008" cy="2331720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2249424"/>
            <a:ext cx="457200" cy="457200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25856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06256" y="221284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Contrapartida mensurável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770632"/>
            <a:ext cx="3090672" cy="17099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A participação gera backlog priorizado, proposta técnica, protótipo em homologação e piloto controlado.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4700016"/>
            <a:ext cx="11119104" cy="1060704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919472"/>
            <a:ext cx="10533888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Objetivo: transformar aprendizado externo em capacidade interna reutilizável, com segurança e resultado verificável.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9FCF0841-A612-2B72-C5DA-C00FFEB800D5}"/>
              </a:ext>
            </a:extLst>
          </p:cNvPr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PONTO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Cenário atual da SofIA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08760"/>
            <a:ext cx="2395728" cy="12984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508760"/>
            <a:ext cx="2395728" cy="109728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1755648"/>
            <a:ext cx="212140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92737"/>
                </a:solidFill>
                <a:latin typeface="Arial"/>
              </a:rPr>
              <a:t>SENTINEL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103120"/>
            <a:ext cx="212140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F7C"/>
                </a:solidFill>
                <a:latin typeface="Arial"/>
              </a:rPr>
              <a:t>Fonte oficial
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1920240"/>
            <a:ext cx="32918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0098D6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508760"/>
            <a:ext cx="2395728" cy="12984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83280" y="1508760"/>
            <a:ext cx="2395728" cy="109728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755648"/>
            <a:ext cx="212140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92737"/>
                </a:solidFill>
                <a:latin typeface="Arial"/>
              </a:rPr>
              <a:t>n8n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03120"/>
            <a:ext cx="212140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F7C"/>
                </a:solidFill>
                <a:latin typeface="Arial"/>
              </a:rPr>
              <a:t>Orquestração
dos fluxos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4" y="1920240"/>
            <a:ext cx="32918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0098D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508760"/>
            <a:ext cx="2395728" cy="12984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9632" y="1508760"/>
            <a:ext cx="2395728" cy="109728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1755648"/>
            <a:ext cx="212140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92737"/>
                </a:solidFill>
                <a:latin typeface="Arial"/>
              </a:rPr>
              <a:t>OLLAMA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103120"/>
            <a:ext cx="212140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F7C"/>
                </a:solidFill>
                <a:latin typeface="Arial"/>
              </a:rPr>
              <a:t>Interpretação
com IA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1920240"/>
            <a:ext cx="329184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0098D6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1508760"/>
            <a:ext cx="2395728" cy="12984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15984" y="1508760"/>
            <a:ext cx="2395728" cy="109728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53144" y="1755648"/>
            <a:ext cx="212140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092737"/>
                </a:solidFill>
                <a:latin typeface="Arial"/>
              </a:rPr>
              <a:t>SofIA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2103120"/>
            <a:ext cx="212140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5B6F7C"/>
                </a:solidFill>
                <a:latin typeface="Arial"/>
              </a:rPr>
              <a:t>Interface com
o usuário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246120"/>
            <a:ext cx="11064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092737"/>
                </a:solidFill>
                <a:latin typeface="Arial"/>
              </a:rPr>
              <a:t>Pontos que ainda precisam evoluir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730752"/>
            <a:ext cx="5367528" cy="8412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66928" y="3730752"/>
            <a:ext cx="64008" cy="841248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3913632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Precisão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270248"/>
            <a:ext cx="49103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Reduzir respostas incompletas ou sem apoio nos dados oficiais.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730752"/>
            <a:ext cx="5367528" cy="8412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90488" y="3730752"/>
            <a:ext cx="64008" cy="841248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913632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Memória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70248"/>
            <a:ext cx="49103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Controlar contexto sem misturar usuários ou informações sensíveis.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754880"/>
            <a:ext cx="5367528" cy="8412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4754880"/>
            <a:ext cx="64008" cy="841248"/>
          </a:xfrm>
          <a:prstGeom prst="roundRect">
            <a:avLst/>
          </a:prstGeom>
          <a:solidFill>
            <a:srgbClr val="CD4343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4937760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Segurança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294376"/>
            <a:ext cx="49103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Evitar abuso de ferramentas, credenciais e ações não autorizadas.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4754880"/>
            <a:ext cx="5367528" cy="841248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190488" y="4754880"/>
            <a:ext cx="64008" cy="841248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46520" y="4937760"/>
            <a:ext cx="491032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Métricas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294376"/>
            <a:ext cx="4910328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Comprovar qualidade, desempenho, adoção e ganho operacional.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OBJETIVOS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Aplicação no Sentinel e na SofIA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44752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1444752"/>
            <a:ext cx="64008" cy="1792224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1664208"/>
            <a:ext cx="457200" cy="45720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1673352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1627632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Dados oficiais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208278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Responder usando somente fontes autorizadas do Sentinel.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1" y="1444752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70831" y="1444752"/>
            <a:ext cx="64008" cy="1792224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0288" y="1664208"/>
            <a:ext cx="457200" cy="45720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0288" y="1673352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3" y="1627632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Diagnóstico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3923" y="2180844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Correlacionar regionais, servidores, links, switches, VPNs, antenas e firewalls.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444752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93023" y="1444752"/>
            <a:ext cx="64008" cy="1792224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0" y="1664208"/>
            <a:ext cx="457200" cy="457200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673352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97696" y="1627632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Evidências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2401" y="2153412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Exibir fonte, horário da informação e justificativa da resposta.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584448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48640" y="3584448"/>
            <a:ext cx="64008" cy="1792224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68096" y="3803904"/>
            <a:ext cx="457200" cy="457200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381304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3767328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Integração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07804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Melhorar o fluxo entre Sentinel, SofIA, Ollama e n8n.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1" y="3584448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70831" y="3584448"/>
            <a:ext cx="64008" cy="1792224"/>
          </a:xfrm>
          <a:prstGeom prst="roundRect">
            <a:avLst/>
          </a:prstGeom>
          <a:solidFill>
            <a:srgbClr val="CD4343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590288" y="3803904"/>
            <a:ext cx="457200" cy="457200"/>
          </a:xfrm>
          <a:prstGeom prst="roundRect">
            <a:avLst/>
          </a:prstGeom>
          <a:solidFill>
            <a:srgbClr val="CD4343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90288" y="381304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5503" y="3767328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Proteção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5151" y="4325112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Reduzir risco de vazamento, prompt injection e uso indevido.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3023" y="3584448"/>
            <a:ext cx="3520440" cy="1792224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93023" y="3584448"/>
            <a:ext cx="64008" cy="1792224"/>
          </a:xfrm>
          <a:prstGeom prst="round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0" y="3803904"/>
            <a:ext cx="457200" cy="457200"/>
          </a:xfrm>
          <a:prstGeom prst="round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381304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7696" y="3767328"/>
            <a:ext cx="253288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Automação segura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67344" y="4325111"/>
            <a:ext cx="3063240" cy="11704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Preparar ações futuras com autorização, confirmação humana e auditoria.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769864"/>
            <a:ext cx="11109960" cy="502920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4944" y="5843016"/>
            <a:ext cx="10808208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Sentinel permanece responsável por autenticação, permissões e auditoria.</a:t>
            </a:r>
          </a:p>
        </p:txBody>
      </p:sp>
      <p:pic>
        <p:nvPicPr>
          <p:cNvPr id="49" name="Picture 13" descr="sentinel_regionais_logo.png">
            <a:extLst>
              <a:ext uri="{FF2B5EF4-FFF2-40B4-BE49-F238E27FC236}">
                <a16:creationId xmlns:a16="http://schemas.microsoft.com/office/drawing/2014/main" id="{9D20F5D7-AA31-FD14-1B7C-D6555D93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8344" y="56794"/>
            <a:ext cx="2320290" cy="994756"/>
          </a:xfrm>
          <a:prstGeom prst="rect">
            <a:avLst/>
          </a:prstGeom>
        </p:spPr>
      </p:pic>
      <p:sp>
        <p:nvSpPr>
          <p:cNvPr id="51" name="Rectangle 2">
            <a:extLst>
              <a:ext uri="{FF2B5EF4-FFF2-40B4-BE49-F238E27FC236}">
                <a16:creationId xmlns:a16="http://schemas.microsoft.com/office/drawing/2014/main" id="{CD462DB1-6C79-1CE2-F230-EB4F8995FF62}"/>
              </a:ext>
            </a:extLst>
          </p:cNvPr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AGENDA EXPERIENCE | APLICAÇÃO E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Palestras prioritárias — dia 28/10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234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B6F7C"/>
                </a:solidFill>
                <a:latin typeface="Arial"/>
              </a:rPr>
              <a:t>APLICAÇÃO ESPERADA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2992" y="1234440"/>
            <a:ext cx="11887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pt-BR" sz="900" b="1" dirty="0">
                <a:solidFill>
                  <a:srgbClr val="5B6F7C"/>
                </a:solidFill>
                <a:latin typeface="Arial"/>
              </a:rPr>
              <a:t>Aplicabilidade</a:t>
            </a:r>
            <a:endParaRPr sz="900" b="1" dirty="0">
              <a:solidFill>
                <a:srgbClr val="5B6F7C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1508760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73152" cy="1078992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7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0098D6"/>
                </a:solidFill>
                <a:latin typeface="Arial"/>
              </a:rPr>
              <a:t>28/10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84248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Todos Nós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636776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dirty="0" err="1">
                <a:solidFill>
                  <a:srgbClr val="092737"/>
                </a:solidFill>
                <a:latin typeface="Arial"/>
              </a:rPr>
              <a:t>Além</a:t>
            </a:r>
            <a:r>
              <a:rPr sz="1250" b="1" dirty="0">
                <a:solidFill>
                  <a:srgbClr val="092737"/>
                </a:solidFill>
                <a:latin typeface="Arial"/>
              </a:rPr>
              <a:t> do Vibe Coding: da </a:t>
            </a:r>
            <a:r>
              <a:rPr sz="1250" b="1" dirty="0" err="1">
                <a:solidFill>
                  <a:srgbClr val="092737"/>
                </a:solidFill>
                <a:latin typeface="Arial"/>
              </a:rPr>
              <a:t>ideia</a:t>
            </a:r>
            <a:r>
              <a:rPr sz="1250" b="1" dirty="0">
                <a:solidFill>
                  <a:srgbClr val="092737"/>
                </a:solidFill>
                <a:latin typeface="Arial"/>
              </a:rPr>
              <a:t> à </a:t>
            </a:r>
            <a:r>
              <a:rPr sz="1250" b="1" dirty="0" err="1">
                <a:solidFill>
                  <a:srgbClr val="092737"/>
                </a:solidFill>
                <a:latin typeface="Arial"/>
              </a:rPr>
              <a:t>produção</a:t>
            </a:r>
            <a:r>
              <a:rPr sz="1250" b="1" dirty="0">
                <a:solidFill>
                  <a:srgbClr val="092737"/>
                </a:solidFill>
                <a:latin typeface="Arial"/>
              </a:rPr>
              <a:t> com segurança e governança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636776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Publicar novas funções com testes, homologação, versão e retorno seguro.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1792224"/>
            <a:ext cx="1261872" cy="45720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04704" y="1889383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Médio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2706624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2706624"/>
            <a:ext cx="73152" cy="1078992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862072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1A9E6F"/>
                </a:solidFill>
                <a:latin typeface="Arial"/>
              </a:rPr>
              <a:t>28/10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Nós Transformamos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834640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ROI de projeto de IA: como se calcula sem enganar a diretoria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834640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Medir diagnóstico, precisão, adoção e custo de processamento.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86416" y="2990088"/>
            <a:ext cx="1261872" cy="45720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04704" y="3087247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Curto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3904487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3904487"/>
            <a:ext cx="73152" cy="1078992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4059935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Arial"/>
              </a:rPr>
              <a:t>28/10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79975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Nós Somos CEIA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032503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Decisão em Escala: quando a IA deixa de gerar e começa a agir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032503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Definir limites para informar, recomendar e executar com aprovação humana.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86416" y="4187951"/>
            <a:ext cx="1261872" cy="457200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04704" y="4285110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Longo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5102352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200" y="5102352"/>
            <a:ext cx="73152" cy="1078992"/>
          </a:xfrm>
          <a:prstGeom prst="roundRect">
            <a:avLst/>
          </a:prstGeom>
          <a:solidFill>
            <a:srgbClr val="329344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25780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6553BE"/>
                </a:solidFill>
                <a:latin typeface="Arial"/>
              </a:rPr>
              <a:t>28/10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577840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Nós Somos CEIA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230368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IA para agentes conversacionais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5230368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Melhorar perguntas, ferramentas escolhidas e respostas baseadas em dados reais.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86416" y="5385816"/>
            <a:ext cx="1261872" cy="457200"/>
          </a:xfrm>
          <a:prstGeom prst="roundRect">
            <a:avLst/>
          </a:prstGeom>
          <a:solidFill>
            <a:srgbClr val="329344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04704" y="5482975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Curto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1207" y="6300216"/>
            <a:ext cx="10972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19" b="0">
                <a:solidFill>
                  <a:srgbClr val="5B6F7C"/>
                </a:solidFill>
                <a:latin typeface="Arial"/>
              </a:rPr>
              <a:t>Horários a confirmar na grade oficial. Fonte: experience2026.aibrasil.ai/programacao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4572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AGENDA EXPERIENCE | APLICAÇÃO E PRAZO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Palestras prioritárias — dia 29/10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4" y="1234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5B6F7C"/>
                </a:solidFill>
                <a:latin typeface="Arial"/>
              </a:rPr>
              <a:t>APLICAÇÃO ESPERADA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22992" y="1234440"/>
            <a:ext cx="118872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pt-BR" sz="900" b="1" dirty="0">
                <a:solidFill>
                  <a:srgbClr val="5B6F7C"/>
                </a:solidFill>
                <a:latin typeface="Arial"/>
              </a:rPr>
              <a:t>Aplicabilidade</a:t>
            </a:r>
            <a:endParaRPr sz="900" b="1" dirty="0">
              <a:solidFill>
                <a:srgbClr val="5B6F7C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" y="1508760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1508760"/>
            <a:ext cx="73152" cy="1078992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7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0098D6"/>
                </a:solidFill>
                <a:latin typeface="Arial"/>
              </a:rPr>
              <a:t>29/10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84248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Eu Faço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1636776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Antes do agente, a arquitetura: construindo um segundo cérebro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1636776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Organizar memória, documentos e contexto sem expor dados sensíveis.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6416" y="1792224"/>
            <a:ext cx="1261872" cy="45720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04704" y="1889383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Médio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2706624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2706624"/>
            <a:ext cx="73152" cy="1078992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2862072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dirty="0">
                <a:solidFill>
                  <a:srgbClr val="FF0000"/>
                </a:solidFill>
                <a:latin typeface="Arial"/>
              </a:rPr>
              <a:t>29/10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Eu Faço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2834640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Agentes de IA e a transformação da Engenharia de Software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834640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Apoiar testes, análise de falhas e manutenção com revisão humana.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86416" y="2990088"/>
            <a:ext cx="1261872" cy="457200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04704" y="3087247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Longo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3904487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" y="3904487"/>
            <a:ext cx="73152" cy="1078992"/>
          </a:xfrm>
          <a:prstGeom prst="roundRect">
            <a:avLst/>
          </a:prstGeom>
          <a:solidFill>
            <a:srgbClr val="329344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4059935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dirty="0">
                <a:solidFill>
                  <a:srgbClr val="329344"/>
                </a:solidFill>
                <a:latin typeface="Arial"/>
              </a:rPr>
              <a:t>29/10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79975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Nós Somos CEIA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4032503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Agentes autônomos na cultura de DevSecOps da equipe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032503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Proteger APIs e n8n contra abuso, vazamento e prompt injection.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86416" y="4187951"/>
            <a:ext cx="1261872" cy="457200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04704" y="4285110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Longo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5102352"/>
            <a:ext cx="11265408" cy="10789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57200" y="5102352"/>
            <a:ext cx="73152" cy="1078992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257800"/>
            <a:ext cx="685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  <a:latin typeface="Arial"/>
              </a:rPr>
              <a:t>29/10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577840"/>
            <a:ext cx="141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>
                <a:solidFill>
                  <a:srgbClr val="5B6F7C"/>
                </a:solidFill>
                <a:latin typeface="Arial"/>
              </a:rPr>
              <a:t>Nós Somos CEIA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230368"/>
            <a:ext cx="3703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092737"/>
                </a:solidFill>
                <a:latin typeface="Arial"/>
              </a:rPr>
              <a:t>Do trabalho individual aos workflows inteligentes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0448" y="5230368"/>
            <a:ext cx="4078224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>
                <a:solidFill>
                  <a:srgbClr val="1F323F"/>
                </a:solidFill>
                <a:latin typeface="Arial"/>
              </a:rPr>
              <a:t>Integrar alertas, diagnósticos, chamados e aprovações reutilizáveis.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86416" y="5385816"/>
            <a:ext cx="1261872" cy="457200"/>
          </a:xfrm>
          <a:prstGeom prst="roundRect">
            <a:avLst/>
          </a:prstGeom>
          <a:solidFill>
            <a:srgbClr val="FF0000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10204704" y="5482975"/>
            <a:ext cx="1225296" cy="23544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pt-BR" sz="1050" b="1" dirty="0">
                <a:solidFill>
                  <a:srgbClr val="FFFFFF"/>
                </a:solidFill>
                <a:latin typeface="Arial"/>
              </a:rPr>
              <a:t>Longo prazo</a:t>
            </a:r>
            <a:endParaRPr sz="10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21207" y="6300216"/>
            <a:ext cx="10972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19" b="0">
                <a:solidFill>
                  <a:srgbClr val="5B6F7C"/>
                </a:solidFill>
                <a:latin typeface="Arial"/>
              </a:rPr>
              <a:t>Horários a confirmar na grade oficial. Fonte: experience2026.aibrasil.ai/programacao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ASSISTENTE DE DIAGNÓSTICO DE INFRAESTRUTURA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Entrega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38328"/>
            <a:ext cx="420624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353312"/>
            <a:ext cx="80924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>
                <a:solidFill>
                  <a:srgbClr val="092737"/>
                </a:solidFill>
                <a:latin typeface="Arial"/>
              </a:rPr>
              <a:t>A SofIA explicará por que uma regional está em alerta usando somente dados autorizados.</a:t>
            </a:r>
          </a:p>
        </p:txBody>
      </p:sp>
      <p:pic>
        <p:nvPicPr>
          <p:cNvPr id="11" name="Picture 10" descr="sofia_chat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312" y="1243584"/>
            <a:ext cx="1691640" cy="1691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66928" y="2121408"/>
            <a:ext cx="2487168" cy="19933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66928" y="2121408"/>
            <a:ext cx="64008" cy="1993392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" y="2340863"/>
            <a:ext cx="457200" cy="45720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235000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04288"/>
            <a:ext cx="1499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Pergunta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" y="2926080"/>
            <a:ext cx="2029968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Usuário solicita o diagnóstico de uma regional.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46704" y="2121408"/>
            <a:ext cx="2487168" cy="19933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346704" y="2121408"/>
            <a:ext cx="64008" cy="1993392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566160" y="2340863"/>
            <a:ext cx="457200" cy="45720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235000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2304288"/>
            <a:ext cx="1499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Consulta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2926080"/>
            <a:ext cx="2029968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dirty="0">
                <a:solidFill>
                  <a:srgbClr val="5B6F7C"/>
                </a:solidFill>
                <a:latin typeface="Arial"/>
              </a:rPr>
              <a:t>SofIA aciona ferramentas autorizadas do Sentinel.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121408"/>
            <a:ext cx="2487168" cy="19933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2121408"/>
            <a:ext cx="64008" cy="1993392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45936" y="2340863"/>
            <a:ext cx="457200" cy="457200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45936" y="235000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2304288"/>
            <a:ext cx="1499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Correlação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2940774"/>
            <a:ext cx="2029968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Dispositivos, status e horários são analisados em conjunto.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06256" y="2121408"/>
            <a:ext cx="2487168" cy="1993392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906256" y="2121408"/>
            <a:ext cx="64008" cy="1993392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25712" y="2340863"/>
            <a:ext cx="457200" cy="457200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25712" y="2350008"/>
            <a:ext cx="457200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304288"/>
            <a:ext cx="149961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Resposta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3436" y="2926080"/>
            <a:ext cx="2029968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Diagnóstico retorna com evidências e última atualização.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480560"/>
            <a:ext cx="110642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dirty="0">
                <a:solidFill>
                  <a:srgbClr val="092737"/>
                </a:solidFill>
                <a:latin typeface="Arial"/>
              </a:rPr>
              <a:t>Controles obrigatórios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956048"/>
            <a:ext cx="2487168" cy="658368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5074920"/>
            <a:ext cx="223113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Somente leitura no piloto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46704" y="4956048"/>
            <a:ext cx="2487168" cy="658368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74720" y="5051590"/>
            <a:ext cx="2231136" cy="4124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Permissões por </a:t>
            </a:r>
            <a:r>
              <a:rPr sz="1100" b="1" dirty="0" err="1">
                <a:solidFill>
                  <a:srgbClr val="FFFFFF"/>
                </a:solidFill>
                <a:latin typeface="Arial"/>
              </a:rPr>
              <a:t>usuário</a:t>
            </a:r>
            <a:br>
              <a:rPr lang="pt-BR" sz="1100" b="1" dirty="0">
                <a:solidFill>
                  <a:srgbClr val="FFFFFF"/>
                </a:solidFill>
                <a:latin typeface="Arial"/>
              </a:rPr>
            </a:br>
            <a:r>
              <a:rPr lang="pt-BR" sz="1100" b="1" dirty="0">
                <a:solidFill>
                  <a:srgbClr val="FFFFFF"/>
                </a:solidFill>
                <a:latin typeface="Arial"/>
              </a:rPr>
              <a:t>(permissão do AD)</a:t>
            </a:r>
            <a:endParaRPr sz="11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126480" y="4956048"/>
            <a:ext cx="2487168" cy="658368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54496" y="5074920"/>
            <a:ext cx="223113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Registro de auditoria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06256" y="4956048"/>
            <a:ext cx="2487168" cy="658368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34272" y="5074920"/>
            <a:ext cx="2231136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Aprovação humana para ações futuras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15568"/>
          </a:xfrm>
          <a:prstGeom prst="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57784"/>
            <a:ext cx="109728" cy="1115568"/>
          </a:xfrm>
          <a:prstGeom prst="rect">
            <a:avLst/>
          </a:prstGeom>
          <a:solidFill>
            <a:srgbClr val="00CCFF"/>
          </a:solidFill>
          <a:ln w="8890">
            <a:solidFill>
              <a:srgbClr val="00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38912" y="155448"/>
            <a:ext cx="10789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>
                <a:solidFill>
                  <a:srgbClr val="00CCFF"/>
                </a:solidFill>
                <a:latin typeface="Arial"/>
              </a:rPr>
              <a:t>VALOR PARA 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20624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Resultados esperados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391942"/>
            <a:ext cx="420624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rial"/>
              </a:rPr>
              <a:t>0</a:t>
            </a:r>
            <a:r>
              <a:rPr lang="pt-BR" sz="1200" b="1" dirty="0">
                <a:solidFill>
                  <a:srgbClr val="FFFFFF"/>
                </a:solidFill>
                <a:latin typeface="Arial"/>
              </a:rPr>
              <a:t>8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01984" cy="18288"/>
          </a:xfrm>
          <a:prstGeom prst="rect">
            <a:avLst/>
          </a:prstGeom>
          <a:solidFill>
            <a:srgbClr val="D4E1E7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6565392"/>
            <a:ext cx="8046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>
                <a:solidFill>
                  <a:srgbClr val="5B6F7C"/>
                </a:solidFill>
                <a:latin typeface="Arial"/>
              </a:rPr>
              <a:t>GRUPO GPS  |  INFRAESTRUTURA REGIONAL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565392"/>
            <a:ext cx="2322576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>
                <a:solidFill>
                  <a:srgbClr val="5B6F7C"/>
                </a:solidFill>
                <a:latin typeface="Arial"/>
              </a:rPr>
              <a:t>AI BRASIL EXPERIENCE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44752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444752"/>
            <a:ext cx="64008" cy="1554480"/>
          </a:xfrm>
          <a:prstGeom prst="roundRect">
            <a:avLst/>
          </a:prstGeom>
          <a:solidFill>
            <a:srgbClr val="0098D6"/>
          </a:solidFill>
          <a:ln w="8890">
            <a:solidFill>
              <a:srgbClr val="009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627632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Mais precisão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84248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Respostas ancoradas nos dados reais do Sentinel.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44752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1444752"/>
            <a:ext cx="64008" cy="1554480"/>
          </a:xfrm>
          <a:prstGeom prst="roundRect">
            <a:avLst/>
          </a:prstGeom>
          <a:solidFill>
            <a:srgbClr val="1A9E6F"/>
          </a:solidFill>
          <a:ln w="8890">
            <a:solidFill>
              <a:srgbClr val="1A9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3712" y="1627632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Menor tempo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1984248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Diagnósticos operacionais com menos análise manual.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444752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28431" y="1444752"/>
            <a:ext cx="64008" cy="1554480"/>
          </a:xfrm>
          <a:prstGeom prst="roundRect">
            <a:avLst/>
          </a:prstGeom>
          <a:solidFill>
            <a:srgbClr val="CD4343"/>
          </a:solidFill>
          <a:ln w="8890">
            <a:solidFill>
              <a:srgbClr val="CD4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4463" y="1627632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Mais segurança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3" y="1984248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Uso controlado de IA, n8n, APIs e credenciais.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346704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3346704"/>
            <a:ext cx="64008" cy="1554480"/>
          </a:xfrm>
          <a:prstGeom prst="roundRect">
            <a:avLst/>
          </a:prstGeom>
          <a:solidFill>
            <a:srgbClr val="E67E22"/>
          </a:solidFill>
          <a:ln w="889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529584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Resultado medido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Indicadores de qualidade, adoção e ganho operacional.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346704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97680" y="3346704"/>
            <a:ext cx="64008" cy="1554480"/>
          </a:xfrm>
          <a:prstGeom prst="roundRect">
            <a:avLst/>
          </a:prstGeom>
          <a:solidFill>
            <a:srgbClr val="6553BE"/>
          </a:solidFill>
          <a:ln w="8890">
            <a:solidFill>
              <a:srgbClr val="65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3712" y="3529584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Base reutilizável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886200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Arquitetura aplicável a novos projetos de IA.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3346704"/>
            <a:ext cx="3438144" cy="1554480"/>
          </a:xfrm>
          <a:prstGeom prst="roundRect">
            <a:avLst/>
          </a:prstGeom>
          <a:solidFill>
            <a:srgbClr val="F2F7F9"/>
          </a:solidFill>
          <a:ln w="8890">
            <a:solidFill>
              <a:srgbClr val="D4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28431" y="3346704"/>
            <a:ext cx="64008" cy="1554480"/>
          </a:xfrm>
          <a:prstGeom prst="roundRect">
            <a:avLst/>
          </a:prstGeom>
          <a:solidFill>
            <a:srgbClr val="12394E"/>
          </a:solidFill>
          <a:ln w="8890">
            <a:solidFill>
              <a:srgbClr val="123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3" y="3529584"/>
            <a:ext cx="2980944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092737"/>
                </a:solidFill>
                <a:latin typeface="Arial"/>
              </a:rPr>
              <a:t>Conhecimento interno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3886200"/>
            <a:ext cx="2980944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>
                <a:solidFill>
                  <a:srgbClr val="5B6F7C"/>
                </a:solidFill>
                <a:latin typeface="Arial"/>
              </a:rPr>
              <a:t>Aprendizados documentados e compartilhados com a equipe.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404104"/>
            <a:ext cx="11045952" cy="676656"/>
          </a:xfrm>
          <a:prstGeom prst="roundRect">
            <a:avLst/>
          </a:prstGeom>
          <a:solidFill>
            <a:srgbClr val="092737"/>
          </a:solidFill>
          <a:ln w="8890">
            <a:solidFill>
              <a:srgbClr val="092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513832"/>
            <a:ext cx="10625328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Aprendizado convertido em entrega técnica, mensurável e segura para a empresa.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to preta e branca de homens posando para foto&#10;&#10;Descrição gerada automaticamente">
            <a:extLst>
              <a:ext uri="{FF2B5EF4-FFF2-40B4-BE49-F238E27FC236}">
                <a16:creationId xmlns:a16="http://schemas.microsoft.com/office/drawing/2014/main" id="{EA1FA07D-4A12-D61C-0DF8-20277B818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8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" y="-14113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A983247-742C-4028-FAF8-FD353BB45B88}"/>
              </a:ext>
            </a:extLst>
          </p:cNvPr>
          <p:cNvSpPr/>
          <p:nvPr/>
        </p:nvSpPr>
        <p:spPr>
          <a:xfrm>
            <a:off x="0" y="3115217"/>
            <a:ext cx="12192000" cy="1584176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EC89FA-6D38-27CA-D852-FA4473EA3CB5}"/>
              </a:ext>
            </a:extLst>
          </p:cNvPr>
          <p:cNvSpPr/>
          <p:nvPr/>
        </p:nvSpPr>
        <p:spPr>
          <a:xfrm>
            <a:off x="0" y="3892703"/>
            <a:ext cx="12192000" cy="1584176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31AB4CC-3537-5511-C6FF-5DF7B9C77C3D}"/>
              </a:ext>
            </a:extLst>
          </p:cNvPr>
          <p:cNvSpPr/>
          <p:nvPr/>
        </p:nvSpPr>
        <p:spPr>
          <a:xfrm>
            <a:off x="0" y="3477492"/>
            <a:ext cx="12192000" cy="1607126"/>
          </a:xfrm>
          <a:prstGeom prst="rect">
            <a:avLst/>
          </a:prstGeom>
          <a:solidFill>
            <a:srgbClr val="0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593740F-1F01-8B35-9AFC-1F42B69BDB9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175" y="3929704"/>
            <a:ext cx="2584185" cy="681336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833ADBD0-D9AA-F0FF-2B54-944C33208020}"/>
              </a:ext>
            </a:extLst>
          </p:cNvPr>
          <p:cNvSpPr/>
          <p:nvPr/>
        </p:nvSpPr>
        <p:spPr>
          <a:xfrm rot="16200000">
            <a:off x="-821769" y="5959175"/>
            <a:ext cx="1719821" cy="86399"/>
          </a:xfrm>
          <a:prstGeom prst="rect">
            <a:avLst/>
          </a:prstGeom>
          <a:solidFill>
            <a:srgbClr val="E76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E76767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34C291-1EDA-A57B-29BE-93367B79AE1F}"/>
              </a:ext>
            </a:extLst>
          </p:cNvPr>
          <p:cNvSpPr/>
          <p:nvPr/>
        </p:nvSpPr>
        <p:spPr>
          <a:xfrm rot="16200000">
            <a:off x="-821768" y="4240447"/>
            <a:ext cx="1719821" cy="86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C27D2FD-183C-E6A3-1DCD-35A03F0CA9D2}"/>
              </a:ext>
            </a:extLst>
          </p:cNvPr>
          <p:cNvSpPr/>
          <p:nvPr/>
        </p:nvSpPr>
        <p:spPr>
          <a:xfrm rot="16200000">
            <a:off x="-821769" y="2521722"/>
            <a:ext cx="1719821" cy="863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2FBD8A4-C78F-D014-3B65-D9EECEFAB377}"/>
              </a:ext>
            </a:extLst>
          </p:cNvPr>
          <p:cNvSpPr/>
          <p:nvPr/>
        </p:nvSpPr>
        <p:spPr>
          <a:xfrm rot="16200000">
            <a:off x="-821769" y="802995"/>
            <a:ext cx="1719821" cy="863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F134BBA-A8D3-E975-17FF-DB6A5E4E029D}"/>
              </a:ext>
            </a:extLst>
          </p:cNvPr>
          <p:cNvSpPr txBox="1"/>
          <p:nvPr/>
        </p:nvSpPr>
        <p:spPr>
          <a:xfrm>
            <a:off x="11293857" y="6528937"/>
            <a:ext cx="819461" cy="24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400"/>
              </a:lnSpc>
            </a:pPr>
            <a:r>
              <a:rPr lang="pt-BR" sz="600" dirty="0">
                <a:solidFill>
                  <a:schemeClr val="bg1">
                    <a:lumMod val="75000"/>
                  </a:schemeClr>
                </a:solidFill>
                <a:latin typeface="Helvetica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2021 v1.0</a:t>
            </a:r>
          </a:p>
        </p:txBody>
      </p:sp>
    </p:spTree>
    <p:extLst>
      <p:ext uri="{BB962C8B-B14F-4D97-AF65-F5344CB8AC3E}">
        <p14:creationId xmlns:p14="http://schemas.microsoft.com/office/powerpoint/2010/main" val="23485464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7fc0ac-0d83-47f8-ac11-88440e359691" xsi:nil="true"/>
    <lcf76f155ced4ddcb4097134ff3c332f xmlns="d9896eb1-9120-4f86-ba97-f708e3c0b9b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1A352F65B9EC4EB71BF41B85FD61CC" ma:contentTypeVersion="16" ma:contentTypeDescription="Criar um novo documento." ma:contentTypeScope="" ma:versionID="302c553c6c11406abaa48e3df1b60d84">
  <xsd:schema xmlns:xsd="http://www.w3.org/2001/XMLSchema" xmlns:xs="http://www.w3.org/2001/XMLSchema" xmlns:p="http://schemas.microsoft.com/office/2006/metadata/properties" xmlns:ns2="d9896eb1-9120-4f86-ba97-f708e3c0b9ba" xmlns:ns3="1d7fc0ac-0d83-47f8-ac11-88440e359691" targetNamespace="http://schemas.microsoft.com/office/2006/metadata/properties" ma:root="true" ma:fieldsID="9db368f339226980316b3ac5bc17464e" ns2:_="" ns3:_="">
    <xsd:import namespace="d9896eb1-9120-4f86-ba97-f708e3c0b9ba"/>
    <xsd:import namespace="1d7fc0ac-0d83-47f8-ac11-88440e3596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96eb1-9120-4f86-ba97-f708e3c0b9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bf98bb99-fda5-4d71-9ebb-1cdf427b0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7fc0ac-0d83-47f8-ac11-88440e35969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cd1cbc3-cea9-43d2-bea7-4fa1a4c669ac}" ma:internalName="TaxCatchAll" ma:showField="CatchAllData" ma:web="1d7fc0ac-0d83-47f8-ac11-88440e3596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4D99A3-8336-4BF6-A4CC-1D923594A76A}">
  <ds:schemaRefs>
    <ds:schemaRef ds:uri="http://purl.org/dc/terms/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1d7fc0ac-0d83-47f8-ac11-88440e359691"/>
    <ds:schemaRef ds:uri="d9896eb1-9120-4f86-ba97-f708e3c0b9b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C4F4D6-C3D8-4451-9B8E-301863B99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896eb1-9120-4f86-ba97-f708e3c0b9ba"/>
    <ds:schemaRef ds:uri="1d7fc0ac-0d83-47f8-ac11-88440e3596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82FC6-86A5-4FA0-B3A5-7D23504559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39502</TotalTime>
  <Words>849</Words>
  <Application>Microsoft Office PowerPoint</Application>
  <PresentationFormat>Widescreen</PresentationFormat>
  <Paragraphs>170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Brasil Experience 2026 — Sentinel e SofIA</dc:title>
  <dc:subject>Proposta de participação e aplicação prática</dc:subject>
  <dc:creator>Roosevelt H. D. Andrade Pimentel</dc:creator>
  <cp:keywords>Grupo GPS</cp:keywords>
  <cp:lastModifiedBy>Roosevelt H D Andrade Pimentel</cp:lastModifiedBy>
  <cp:revision>331</cp:revision>
  <dcterms:created xsi:type="dcterms:W3CDTF">2021-03-18T16:46:38Z</dcterms:created>
  <dcterms:modified xsi:type="dcterms:W3CDTF">2026-10-22T18:23:47Z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0x010100FB1A352F65B9EC4EB71BF41B85FD61CC</vt:lpwstr>
  </property>
  <property fmtid="{D5CDD505-2E9C-101B-9397-08002B2CF9AE}" pid="3" name="MediaServiceImageTags">
    <vt:lpwstr/>
  </property>
</Properties>
</file>